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74320"/>
            <a:ext cx="4114800" cy="41148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097280"/>
            <a:ext cx="2926080" cy="2926080"/>
          </a:xfrm>
          <a:prstGeom prst="ellipse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Glaucoma Fundus Image Classification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Convolutional Neural Networks with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 Strategies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41148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Methods • Deep Learning Models • Evaluation Results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Public Datasets  |  11,031 Training Images  |  5 CNN Models  |  3 Preprocessing Methods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926080"/>
            <a:ext cx="4572000" cy="457200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sources • Preprocessing • CNN architectures • K-Fold • Evaluation metrics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E9EE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from 15 publicly available fundus image databases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92608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88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11,031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627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292608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423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15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28620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Datasets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566160"/>
            <a:ext cx="2926080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3657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~50/50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1480" y="40965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1100" dirty="0"/>
          </a:p>
        </p:txBody>
      </p:sp>
      <p:pic>
        <p:nvPicPr>
          <p:cNvPr id="14" name="Image 0" descr="D:\OneDrive\A4_JobREF\9Z_CodeWork\2403CW_GlaucomeClassification\Python_Code\ppt_assets\subdatase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1005840"/>
            <a:ext cx="5486400" cy="37490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split (15 datasets) + separate Test split from RefA1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Distribution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 and train/test split composition</a:t>
            </a:r>
            <a:endParaRPr lang="en-US" sz="1300" dirty="0"/>
          </a:p>
        </p:txBody>
      </p:sp>
      <p:pic>
        <p:nvPicPr>
          <p:cNvPr id="5" name="Image 0" descr="D:\OneDrive\A4_JobREF\9Z_CodeWork\2403CW_GlaucomeClassification\Python_Code\ppt_assets\datase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841248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F0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Dataset is already balanced (no oversampling required)  •  Augmentation: RandomFlip + RandomRotation(±20°) on training folds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 Methods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images resized to 224×224 — three enhancement strategies evaluated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Original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2743200" cy="914400"/>
          </a:xfrm>
          <a:prstGeom prst="rect">
            <a:avLst/>
          </a:prstGeom>
          <a:solidFill>
            <a:srgbClr val="F0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2763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resize only.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contrast enhancement.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natural fundus appearance.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7432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143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Histogram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Equalization (HE)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1600200"/>
            <a:ext cx="2743200" cy="914400"/>
          </a:xfrm>
          <a:prstGeom prst="rect">
            <a:avLst/>
          </a:prstGeom>
          <a:solidFill>
            <a:srgbClr val="F0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62763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Equalizes luminance channel (YUV).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contrast enhancement.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over-amplify noise.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274320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143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CLAHE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600200"/>
            <a:ext cx="2743200" cy="914400"/>
          </a:xfrm>
          <a:prstGeom prst="rect">
            <a:avLst/>
          </a:prstGeom>
          <a:solidFill>
            <a:srgbClr val="F0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62763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Limited Adaptive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Equalization.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enhancement,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over-amplification.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Glaucoma (POSITIVE) Sample:</a:t>
            </a:r>
            <a:endParaRPr lang="en-US" sz="1100" dirty="0"/>
          </a:p>
        </p:txBody>
      </p:sp>
      <p:pic>
        <p:nvPicPr>
          <p:cNvPr id="18" name="Image 0" descr="D:\OneDrive\A4_JobREF\9Z_CodeWork\2403CW_GlaucomeClassification\Python_Code\ppt_assets\preproc_posi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880360"/>
            <a:ext cx="8595360" cy="1097280"/>
          </a:xfrm>
          <a:prstGeom prst="rect">
            <a:avLst/>
          </a:prstGeom>
        </p:spPr>
      </p:pic>
      <p:pic>
        <p:nvPicPr>
          <p:cNvPr id="19" name="Image 1" descr="D:\OneDrive\A4_JobREF\9Z_CodeWork\2403CW_GlaucomeClassification\Python_Code\ppt_assets\preproc_negat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023360"/>
            <a:ext cx="8595360" cy="9144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57200" y="40050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(NEGATIVE) Sample: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pre-trained ImageNet architectures with fine-tuned classification head (2 output classes)</a:t>
            </a:r>
            <a:endParaRPr lang="en-US" sz="1300" dirty="0"/>
          </a:p>
        </p:txBody>
      </p:sp>
      <p:pic>
        <p:nvPicPr>
          <p:cNvPr id="5" name="Image 0" descr="D:\OneDrive\A4_JobREF\9Z_CodeWork\2403CW_GlaucomeClassification\Python_Code\ppt_assets\model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8412480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3520440"/>
            <a:ext cx="8412480" cy="1325880"/>
          </a:xfrm>
          <a:prstGeom prst="rect">
            <a:avLst/>
          </a:prstGeom>
          <a:solidFill>
            <a:srgbClr val="F0F9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737360" y="3931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(lr = 1e-4)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42245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737360" y="4224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45171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 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737360" y="45171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(early stopping)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54880" y="3931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 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43600" y="3931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754880" y="42245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43600" y="4224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 RGB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754880" y="45171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943600" y="45171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2.x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Cross Validation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5-Fold CV ensures balanced class distribution across all folds</a:t>
            </a:r>
            <a:endParaRPr lang="en-US" sz="1300" dirty="0"/>
          </a:p>
        </p:txBody>
      </p:sp>
      <p:pic>
        <p:nvPicPr>
          <p:cNvPr id="5" name="Image 0" descr="D:\OneDrive\A4_JobREF\9Z_CodeWork\2403CW_GlaucomeClassification\Python_Code\ppt_assets\kfold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8595360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3703320"/>
            <a:ext cx="196596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20040" y="3749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20040" y="4251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68880" y="3703320"/>
            <a:ext cx="196596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468880" y="3749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8,824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468880" y="4251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per Fold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17720" y="3703320"/>
            <a:ext cx="1965960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17720" y="3749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2,207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617720" y="4251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per Fold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766560" y="3703320"/>
            <a:ext cx="1965960" cy="10058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766560" y="3749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11,031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766560" y="4251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Train Images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metrics for binary glaucoma classification assessment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300" dirty="0"/>
          </a:p>
        </p:txBody>
      </p:sp>
      <p:pic>
        <p:nvPicPr>
          <p:cNvPr id="6" name="Image 0" descr="D:\OneDrive\A4_JobREF\9Z_CodeWork\2403CW_GlaucomeClassification\Python_Code\ppt_assets\cm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17320"/>
            <a:ext cx="3931920" cy="2743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300" dirty="0"/>
          </a:p>
        </p:txBody>
      </p:sp>
      <p:pic>
        <p:nvPicPr>
          <p:cNvPr id="8" name="Image 1" descr="D:\OneDrive\A4_JobREF\9Z_CodeWork\2403CW_GlaucomeClassification\Python_Code\ppt_assets\metrics_formu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17320"/>
            <a:ext cx="4572000" cy="20116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297680" y="3520440"/>
            <a:ext cx="4572000" cy="1188720"/>
          </a:xfrm>
          <a:prstGeom prst="rect">
            <a:avLst/>
          </a:prstGeom>
          <a:solidFill>
            <a:srgbClr val="F0F9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434840" y="3566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&amp; AUC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434840" y="39319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TPR (Sensitivity) vs FPR (1−Specificity) at all thresholds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AUC = 1.0 → perfect classifier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AUC = 0.5 → random classifier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371600"/>
            <a:ext cx="4572000" cy="4572000"/>
          </a:xfrm>
          <a:prstGeom prst="ellipse">
            <a:avLst/>
          </a:prstGeom>
          <a:solidFill>
            <a:srgbClr val="2D3F55">
              <a:alpha val="60000"/>
            </a:srgbClr>
          </a:solidFill>
          <a:ln w="12700">
            <a:solidFill>
              <a:srgbClr val="2D3F55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effects • Model accuracy &amp; AUC • Confusion matrices • ROC curves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Visual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three enhancement methods on representative fundus images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Glaucoma (POSITIVE)</a:t>
            </a:r>
            <a:endParaRPr lang="en-US" sz="1200" dirty="0"/>
          </a:p>
        </p:txBody>
      </p:sp>
      <p:pic>
        <p:nvPicPr>
          <p:cNvPr id="6" name="Image 0" descr="D:\OneDrive\A4_JobREF\9Z_CodeWork\2403CW_GlaucomeClassification\Python_Code\ppt_assets\preproc_posi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25880"/>
            <a:ext cx="8595360" cy="1691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(NEGATIVE)</a:t>
            </a:r>
            <a:endParaRPr lang="en-US" sz="1200" dirty="0"/>
          </a:p>
        </p:txBody>
      </p:sp>
      <p:pic>
        <p:nvPicPr>
          <p:cNvPr id="8" name="Image 1" descr="D:\OneDrive\A4_JobREF\9Z_CodeWork\2403CW_GlaucomeClassification\Python_Code\ppt_assets\preproc_negat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310128"/>
            <a:ext cx="8595360" cy="1508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 &amp; AUC across all 5 models × 3 preprocessing methods (5-fold CV)</a:t>
            </a:r>
            <a:endParaRPr lang="en-US" sz="1300" dirty="0"/>
          </a:p>
        </p:txBody>
      </p:sp>
      <p:pic>
        <p:nvPicPr>
          <p:cNvPr id="5" name="Image 0" descr="D:\OneDrive\A4_JobREF\9Z_CodeWork\2403CW_GlaucomeClassification\Python_Code\ppt_assets\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8595360" cy="3611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FFF5E6"/>
          </a:solidFill>
          <a:ln w="12700">
            <a:solidFill>
              <a:srgbClr val="FFD69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645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Best overall: VGG-16 with Original preprocessing — Accuracy 91.8%, AUC 0.973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Heatmap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× Model matrix — Accuracy (left) and AUC (right)</a:t>
            </a:r>
            <a:endParaRPr lang="en-US" sz="1300" dirty="0"/>
          </a:p>
        </p:txBody>
      </p:sp>
      <p:pic>
        <p:nvPicPr>
          <p:cNvPr id="5" name="Image 0" descr="D:\OneDrive\A4_JobREF\9Z_CodeWork\2403CW_GlaucomeClassification\Python_Code\ppt_assets\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859536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023360"/>
            <a:ext cx="8412480" cy="777240"/>
          </a:xfrm>
          <a:prstGeom prst="rect">
            <a:avLst/>
          </a:prstGeom>
          <a:solidFill>
            <a:srgbClr val="F0F9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405079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VGG-16 achieves top accuracy across all preprocessing variants (91.8% / 90.3% / 90.1%)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models perform strongly (88.6%–91.8%) — Original preprocessing consistently yields the best results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vs. Specificity — Best Models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VGG-16 results across all three preprocessing strategies</a:t>
            </a:r>
            <a:endParaRPr lang="en-US" sz="1300" dirty="0"/>
          </a:p>
        </p:txBody>
      </p:sp>
      <p:pic>
        <p:nvPicPr>
          <p:cNvPr id="5" name="Image 0" descr="D:\OneDrive\A4_JobREF\9Z_CodeWork\2403CW_GlaucomeClassification\Python_Code\ppt_assets\sens_sp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05840"/>
            <a:ext cx="7680960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553712"/>
            <a:ext cx="8412480" cy="365760"/>
          </a:xfrm>
          <a:prstGeom prst="rect">
            <a:avLst/>
          </a:prstGeom>
          <a:solidFill>
            <a:srgbClr val="F0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572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note: High Sensitivity critical for glaucoma screening (avoid missed diagnoses). CLAHE VGG-16 gives best Specificity (94.4%).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— VGG-16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(VGG-16) evaluated across three preprocessing methods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97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Original  (91.8% Acc)</a:t>
            </a:r>
            <a:endParaRPr lang="en-US" sz="1100" dirty="0"/>
          </a:p>
        </p:txBody>
      </p:sp>
      <p:pic>
        <p:nvPicPr>
          <p:cNvPr id="7" name="Image 0" descr="D:\OneDrive\A4_JobREF\9Z_CodeWork\2403CW_GlaucomeClassification\Python_Code\ppt_assets\cm_orig_vgg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444752"/>
            <a:ext cx="274320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154680" y="1097280"/>
            <a:ext cx="274320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54680" y="1097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  (90.3% Acc)</a:t>
            </a:r>
            <a:endParaRPr lang="en-US" sz="1100" dirty="0"/>
          </a:p>
        </p:txBody>
      </p:sp>
      <p:pic>
        <p:nvPicPr>
          <p:cNvPr id="10" name="Image 1" descr="D:\OneDrive\A4_JobREF\9Z_CodeWork\2403CW_GlaucomeClassification\Python_Code\ppt_assets\cm_he_vgg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444752"/>
            <a:ext cx="2743200" cy="32918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080760" y="1097280"/>
            <a:ext cx="274320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080760" y="1097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CLAHE  (90.1% Acc)</a:t>
            </a:r>
            <a:endParaRPr lang="en-US" sz="1100" dirty="0"/>
          </a:p>
        </p:txBody>
      </p:sp>
      <p:pic>
        <p:nvPicPr>
          <p:cNvPr id="13" name="Image 2" descr="D:\OneDrive\A4_JobREF\9Z_CodeWork\2403CW_GlaucomeClassification\Python_Code\ppt_assets\cm_clahe_vgg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444752"/>
            <a:ext cx="2743200" cy="32918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 — VGG-16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Operating Characteristic curves — best model per preprocessing variant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97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Original  (AUC 0.973)</a:t>
            </a:r>
            <a:endParaRPr lang="en-US" sz="1100" dirty="0"/>
          </a:p>
        </p:txBody>
      </p:sp>
      <p:pic>
        <p:nvPicPr>
          <p:cNvPr id="7" name="Image 0" descr="D:\OneDrive\A4_JobREF\9Z_CodeWork\2403CW_GlaucomeClassification\Python_Code\ppt_assets\roc_orig_vgg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444752"/>
            <a:ext cx="274320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154680" y="1097280"/>
            <a:ext cx="274320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54680" y="1097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  (AUC 0.963)</a:t>
            </a:r>
            <a:endParaRPr lang="en-US" sz="1100" dirty="0"/>
          </a:p>
        </p:txBody>
      </p:sp>
      <p:pic>
        <p:nvPicPr>
          <p:cNvPr id="10" name="Image 1" descr="D:\OneDrive\A4_JobREF\9Z_CodeWork\2403CW_GlaucomeClassification\Python_Code\ppt_assets\roc_he_vgg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444752"/>
            <a:ext cx="2743200" cy="32918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080760" y="1097280"/>
            <a:ext cx="274320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080760" y="1097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CLAHE  (AUC 0.964)</a:t>
            </a:r>
            <a:endParaRPr lang="en-US" sz="1100" dirty="0"/>
          </a:p>
        </p:txBody>
      </p:sp>
      <p:pic>
        <p:nvPicPr>
          <p:cNvPr id="13" name="Image 2" descr="D:\OneDrive\A4_JobREF\9Z_CodeWork\2403CW_GlaucomeClassification\Python_Code\ppt_assets\roc_clahe_vgg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444752"/>
            <a:ext cx="2743200" cy="32918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188720"/>
                <a:gridCol w="1005840"/>
                <a:gridCol w="1280160"/>
                <a:gridCol w="1280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Preprocessing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AlexNet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VGG-16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DenseNet-121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MobileNet-V2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AlexNet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VGG-16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DenseNet-121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MobileNet-V2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CLAHE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AlexNet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CLAHE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VGG-16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CLAHE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DenseNet-121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CLAHE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CLAHE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MobileNet-V2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713232"/>
          </a:xfrm>
          <a:prstGeom prst="rect">
            <a:avLst/>
          </a:prstGeom>
          <a:solidFill>
            <a:srgbClr val="1C3A5A">
              <a:alpha val="7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Best Model: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VGG-16 with Original preprocessing achieves the highest accuracy (91.8%) and AUC (0.973)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10512"/>
            <a:ext cx="8412480" cy="713232"/>
          </a:xfrm>
          <a:prstGeom prst="rect">
            <a:avLst/>
          </a:prstGeom>
          <a:solidFill>
            <a:srgbClr val="1C3A5A">
              <a:alpha val="7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56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Preprocessing Impact: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579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images outperform HE and CLAHE. CLAHE VGG-16 achieves best Specificity (94.4%) with slight accuracy trade-off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615184"/>
            <a:ext cx="8412480" cy="713232"/>
          </a:xfrm>
          <a:prstGeom prst="rect">
            <a:avLst/>
          </a:prstGeom>
          <a:solidFill>
            <a:srgbClr val="1C3A5A">
              <a:alpha val="7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609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Model Consistency: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96265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models perform strongly (88.6%–91.8%) — no catastrophic failures; Run1 training generalises well across architectures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419856"/>
            <a:ext cx="8412480" cy="713232"/>
          </a:xfrm>
          <a:prstGeom prst="rect">
            <a:avLst/>
          </a:prstGeom>
          <a:solidFill>
            <a:srgbClr val="1C3A5A">
              <a:alpha val="7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655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AUC Consistency: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7673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VGG-16 maintains AUC &gt; 0.96 across all preprocessing variants — highly reliable for clinical screening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224528"/>
            <a:ext cx="8412480" cy="713232"/>
          </a:xfrm>
          <a:prstGeom prst="rect">
            <a:avLst/>
          </a:prstGeom>
          <a:solidFill>
            <a:srgbClr val="1C3A5A">
              <a:alpha val="7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70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Future Work: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methods, GAN-based augmentation, and explainability (Grad-CAM) for clinical adoption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Glaucoma Classification using CNN</dc:title>
  <dc:subject>PptxGenJS Presentation</dc:subject>
  <dc:creator>Glaucoma Research Team</dc:creator>
  <cp:lastModifiedBy>Glaucoma Research Team</cp:lastModifiedBy>
  <cp:revision>1</cp:revision>
  <dcterms:created xsi:type="dcterms:W3CDTF">2026-06-05T00:52:05Z</dcterms:created>
  <dcterms:modified xsi:type="dcterms:W3CDTF">2026-06-05T00:52:05Z</dcterms:modified>
</cp:coreProperties>
</file>